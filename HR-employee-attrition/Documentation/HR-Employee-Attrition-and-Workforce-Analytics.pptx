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2138462"/>
            <a:ext cx="6180181" cy="1285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HR Employee Attrition &amp; Workforce Analytics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14" y="3732411"/>
            <a:ext cx="6180181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End-to-end data analysis (AWS → Power BI) to move beyond a single attrition percentage and reveal the segments and conditions driving turnover.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982166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9814" y="1933377"/>
            <a:ext cx="2987203" cy="2197398"/>
          </a:xfrm>
          <a:prstGeom prst="roundRect">
            <a:avLst>
              <a:gd name="adj" fmla="val 3931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8189" y="2151757"/>
            <a:ext cx="25504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Scope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8189" y="2596356"/>
            <a:ext cx="2550453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Analyzed 1,470 employee records to identify why employees leave and surface retention levers.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912693" y="1933377"/>
            <a:ext cx="2987303" cy="2197398"/>
          </a:xfrm>
          <a:prstGeom prst="roundRect">
            <a:avLst>
              <a:gd name="adj" fmla="val 3931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31068" y="2151757"/>
            <a:ext cx="25505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Platform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31068" y="2596356"/>
            <a:ext cx="255055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pipeline on AWS; analysis in Athena; visualization in Power BI.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9814" y="4336455"/>
            <a:ext cx="6180181" cy="1539379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8189" y="4554835"/>
            <a:ext cx="57434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8189" y="4999434"/>
            <a:ext cx="574343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Uncover which employee segments and conditions drive turnover, not just overall rate.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8608"/>
            <a:ext cx="10752067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Problem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55" y="1634430"/>
            <a:ext cx="4424748" cy="4424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9601" y="3136205"/>
            <a:ext cx="5148630" cy="1421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Organization faced 16.12% attrition and lacked a data-driven view of where risk concentrated. HR needed to know which departments, roles, income bands, and conditions correlate with leaving to target retention efforts.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429147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 Stack &amp; Architecture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2483247"/>
            <a:ext cx="514139" cy="514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1022" y="2483247"/>
            <a:ext cx="26414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S3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91022" y="2927846"/>
            <a:ext cx="2641435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Raw data storage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526" y="2483247"/>
            <a:ext cx="514139" cy="514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0734" y="2483247"/>
            <a:ext cx="26414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Glue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160734" y="2927846"/>
            <a:ext cx="2641435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Crawler (catalog) + ETL (cleaning &amp; feature engineering)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9238" y="2483247"/>
            <a:ext cx="514139" cy="5141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0446" y="2483247"/>
            <a:ext cx="26414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Athena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8830446" y="2927846"/>
            <a:ext cx="2641435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Serverless SQL analysis (10 structured scripts)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814" y="4326235"/>
            <a:ext cx="514139" cy="5141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91022" y="4326235"/>
            <a:ext cx="26414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491022" y="4770834"/>
            <a:ext cx="2641435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dashboards via JDBC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9526" y="4326235"/>
            <a:ext cx="514139" cy="5141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60734" y="4326235"/>
            <a:ext cx="264143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IAM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5160734" y="4770834"/>
            <a:ext cx="2641435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cross-service permissions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Pipeline (Step by Step)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158" y="989707"/>
            <a:ext cx="8307378" cy="572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0261" y="4552019"/>
            <a:ext cx="2270159" cy="30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Upload Data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084760" y="2147905"/>
            <a:ext cx="2343911" cy="30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Configure IAM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658231" y="5256117"/>
            <a:ext cx="2270159" cy="30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Glue Crawler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73369" y="2780770"/>
            <a:ext cx="2270160" cy="30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Glue ETL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15022" y="6772573"/>
            <a:ext cx="1136165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repeatable, serverless pipeline enabling segmentation and root-cause queries.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633512"/>
            <a:ext cx="6180181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Overall Snapshot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719814" y="1469330"/>
            <a:ext cx="6180181" cy="1062137"/>
          </a:xfrm>
          <a:prstGeom prst="roundRect">
            <a:avLst>
              <a:gd name="adj" fmla="val 73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2492" y="1662013"/>
            <a:ext cx="5794825" cy="291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2492" y="2054523"/>
            <a:ext cx="5794825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1,470 employees analyzed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19814" y="2700338"/>
            <a:ext cx="6180181" cy="1062137"/>
          </a:xfrm>
          <a:prstGeom prst="roundRect">
            <a:avLst>
              <a:gd name="adj" fmla="val 73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2492" y="2893020"/>
            <a:ext cx="5794825" cy="291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Leavers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2492" y="3285530"/>
            <a:ext cx="5794825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237 left — 16.12% attrition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19814" y="3931345"/>
            <a:ext cx="6180181" cy="1062137"/>
          </a:xfrm>
          <a:prstGeom prst="roundRect">
            <a:avLst>
              <a:gd name="adj" fmla="val 73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2492" y="4124027"/>
            <a:ext cx="5794825" cy="291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Retained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2492" y="4516537"/>
            <a:ext cx="5794825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1,233 retained — 83.88%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19814" y="5162352"/>
            <a:ext cx="6180181" cy="1062137"/>
          </a:xfrm>
          <a:prstGeom prst="roundRect">
            <a:avLst>
              <a:gd name="adj" fmla="val 73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2492" y="5355034"/>
            <a:ext cx="5794825" cy="291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Takeaway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2492" y="5747544"/>
            <a:ext cx="5794825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~1 in 6 employees has left; overall rate masks concentrated risks.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8608"/>
            <a:ext cx="10752067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Segment Insights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55" y="1634430"/>
            <a:ext cx="4424748" cy="44248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29601" y="2694384"/>
            <a:ext cx="2489832" cy="2304852"/>
          </a:xfrm>
          <a:prstGeom prst="roundRect">
            <a:avLst>
              <a:gd name="adj" fmla="val 3397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41329" y="2906117"/>
            <a:ext cx="2066377" cy="291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Departments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41329" y="3366195"/>
            <a:ext cx="2066377" cy="1421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R&amp;D: 961 (65.4%), attrition 13.84. Sales: 446 (30.3%), attrition 20.63. HR: 63 (4.3%), attrition 19.05.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988299" y="2694384"/>
            <a:ext cx="2489931" cy="2304852"/>
          </a:xfrm>
          <a:prstGeom prst="roundRect">
            <a:avLst>
              <a:gd name="adj" fmla="val 3397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00027" y="2906117"/>
            <a:ext cx="2066476" cy="291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00027" y="3366195"/>
            <a:ext cx="2066476" cy="1421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Sales Reps: 39.76% (highest). Lab Technicians: 23.94%. Research Directors: 2.50% (lowest).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8608"/>
            <a:ext cx="10752067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Drivers: Overtime, Income, Tenure &amp; Age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55" y="1634430"/>
            <a:ext cx="4424748" cy="4424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9601" y="3123605"/>
            <a:ext cx="5148630" cy="1539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Overtime: 30.53% vs 10.44% (nearly 3x higher); consistent across departments.</a:t>
            </a:r>
            <a:endParaRPr lang="en-US" sz="1450" dirty="0"/>
          </a:p>
          <a:p>
            <a:pPr algn="l" marL="294640" indent="-294640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Income:          </a:t>
            </a:r>
            <a:endParaRPr lang="en-US" sz="1450" dirty="0"/>
          </a:p>
          <a:p>
            <a:pPr algn="l" marL="294640" indent="-294640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Tenure &amp; Age: under 2 years → 34.88% attrition; under-25 → 39.18% (highest-risk).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888107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Root Cause Patterns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839317"/>
            <a:ext cx="514139" cy="514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1022" y="1839317"/>
            <a:ext cx="54089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Compounding Risks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491022" y="2283916"/>
            <a:ext cx="540897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Attrition spikes where factors combine (e.g., under-25 + overtime = 67.74%).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3353296"/>
            <a:ext cx="514139" cy="5141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91022" y="3353296"/>
            <a:ext cx="54089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Role + Overtime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491022" y="3797895"/>
            <a:ext cx="540897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Sales Reps on overtime: 66.67% attrition; frequent travelers + overtime: 41.86%.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14" y="4867275"/>
            <a:ext cx="514139" cy="5141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1022" y="4867275"/>
            <a:ext cx="54089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Low Pay + Overtime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491022" y="5311874"/>
            <a:ext cx="540897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Low-income employees working overtime: 56.14% attrition — compensation matters most at the bottom.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4080"/>
            <a:ext cx="10752067" cy="502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Conclusions &amp; Recommendations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719814" y="1405731"/>
            <a:ext cx="2527237" cy="4048125"/>
          </a:xfrm>
          <a:prstGeom prst="roundRect">
            <a:avLst>
              <a:gd name="adj" fmla="val 2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795" y="1572716"/>
            <a:ext cx="2193275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86795" y="1949351"/>
            <a:ext cx="2193275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16.12% masks concentrated, compounding problems. Overtime is the strongest amplifier; early-career employees are highest risk.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72559" y="1405731"/>
            <a:ext cx="2527336" cy="4048125"/>
          </a:xfrm>
          <a:prstGeom prst="roundRect">
            <a:avLst>
              <a:gd name="adj" fmla="val 267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9540" y="1572716"/>
            <a:ext cx="2193374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Recommendations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39540" y="1949351"/>
            <a:ext cx="2193374" cy="333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1900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Reduce or better compensate overtime, prioritizing Sales &amp; R&amp;D operational roles.</a:t>
            </a:r>
            <a:endParaRPr lang="en-US" sz="1250" dirty="0"/>
          </a:p>
          <a:p>
            <a:pPr algn="l" marL="254000" indent="-254000">
              <a:lnSpc>
                <a:spcPct val="119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Strengthen onboarding, mentoring, and early-career support (first 2 years).</a:t>
            </a:r>
            <a:endParaRPr lang="en-US" sz="1250" dirty="0"/>
          </a:p>
          <a:p>
            <a:pPr algn="l" marL="254000" indent="-254000">
              <a:lnSpc>
                <a:spcPct val="119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Review base pay for the lowest income tier.</a:t>
            </a:r>
            <a:endParaRPr lang="en-US" sz="1250" dirty="0"/>
          </a:p>
          <a:p>
            <a:pPr algn="l" marL="254000" indent="-254000">
              <a:lnSpc>
                <a:spcPct val="119000"/>
              </a:lnSpc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Target interventions to Sales Reps and Lab Technicians rather than blanket policies.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956" y="1522512"/>
            <a:ext cx="3814469" cy="38145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9814" y="5736233"/>
            <a:ext cx="10752067" cy="547588"/>
          </a:xfrm>
          <a:prstGeom prst="roundRect">
            <a:avLst>
              <a:gd name="adj" fmla="val 12325"/>
            </a:avLst>
          </a:prstGeom>
          <a:solidFill>
            <a:srgbClr val="0031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45" y="5919986"/>
            <a:ext cx="200814" cy="160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1890" y="5901829"/>
            <a:ext cx="10678945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demonstrated: AWS S3, IAM, Glue (Crawler + ETL), Athena, SQL segmentation, Power BI storytelling.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2026-09-16T02:36:37Z</dcterms:created>
  <dcterms:modified xsi:type="dcterms:W3CDTF">2026-09-16T02:36:37Z</dcterms:modified>
</cp:coreProperties>
</file>